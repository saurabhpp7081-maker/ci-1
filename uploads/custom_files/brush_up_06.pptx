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ags/tag1.xml" ContentType="application/vnd.openxmlformats-officedocument.presentationml.tags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</p:sldIdLst>
  <p:sldSz cx="12192000" cy="6858000"/>
  <p:notesSz cx="6858000" cy="9144000"/>
  <p:defaultTextStyle>
    <a:defPPr>
      <a:defRPr lang="en-DK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 showGuides="1">
      <p:cViewPr varScale="1">
        <p:scale>
          <a:sx n="88" d="100"/>
          <a:sy n="88" d="100"/>
        </p:scale>
        <p:origin x="53" y="77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de-DE" dirty="0" err="1"/>
              <a:t>forecast</a:t>
            </a:r>
            <a:endParaRPr lang="de-DE" dirty="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DK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2018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Finance</c:v>
                </c:pt>
                <c:pt idx="1">
                  <c:v>Ops</c:v>
                </c:pt>
                <c:pt idx="2">
                  <c:v>Marketing</c:v>
                </c:pt>
                <c:pt idx="3">
                  <c:v>Tech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127</c:v>
                </c:pt>
                <c:pt idx="1">
                  <c:v>452</c:v>
                </c:pt>
                <c:pt idx="2">
                  <c:v>698</c:v>
                </c:pt>
                <c:pt idx="3">
                  <c:v>234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F3D2-46A1-8E6E-0CF0DC7F6160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2019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Finance</c:v>
                </c:pt>
                <c:pt idx="1">
                  <c:v>Ops</c:v>
                </c:pt>
                <c:pt idx="2">
                  <c:v>Marketing</c:v>
                </c:pt>
                <c:pt idx="3">
                  <c:v>Tech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555</c:v>
                </c:pt>
                <c:pt idx="1">
                  <c:v>258</c:v>
                </c:pt>
                <c:pt idx="2">
                  <c:v>555</c:v>
                </c:pt>
                <c:pt idx="3">
                  <c:v>854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F3D2-46A1-8E6E-0CF0DC7F6160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2020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Finance</c:v>
                </c:pt>
                <c:pt idx="1">
                  <c:v>Ops</c:v>
                </c:pt>
                <c:pt idx="2">
                  <c:v>Marketing</c:v>
                </c:pt>
                <c:pt idx="3">
                  <c:v>Tech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596</c:v>
                </c:pt>
                <c:pt idx="1">
                  <c:v>147</c:v>
                </c:pt>
                <c:pt idx="2">
                  <c:v>246</c:v>
                </c:pt>
                <c:pt idx="3">
                  <c:v>157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F3D2-46A1-8E6E-0CF0DC7F616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72681520"/>
        <c:axId val="72677912"/>
      </c:barChart>
      <c:catAx>
        <c:axId val="7268152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DK"/>
          </a:p>
        </c:txPr>
        <c:crossAx val="72677912"/>
        <c:crosses val="autoZero"/>
        <c:auto val="1"/>
        <c:lblAlgn val="ctr"/>
        <c:lblOffset val="100"/>
        <c:noMultiLvlLbl val="0"/>
      </c:catAx>
      <c:valAx>
        <c:axId val="72677912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DK"/>
          </a:p>
        </c:txPr>
        <c:crossAx val="72681520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DK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DK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BAFC1C-C7A3-8AEC-F121-EC4282D3A7D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DK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4C2818E-9413-0A4C-2FFC-3B74EF76A8E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D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C64F320-1088-6D67-8421-D1EFAA8B7E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2BF47B-FDDF-4B67-960F-18AFB86A7B8A}" type="datetimeFigureOut">
              <a:rPr lang="en-DK" smtClean="0"/>
              <a:t>16/07/2024</a:t>
            </a:fld>
            <a:endParaRPr lang="en-D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CC0B268-08B1-AADF-D456-0B5670DE48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E43160B-0097-142E-4A0F-98192B9EA2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960173-6FAD-4847-9EEB-E4875933BC96}" type="slidenum">
              <a:rPr lang="en-DK" smtClean="0"/>
              <a:t>‹#›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1838394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484FE5-FC58-2514-F28F-5298A8982D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D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1FF9E7-1AD6-7DDF-B510-550A31B3E78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D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BEB49A-9030-F022-C44A-EB20CD3AA8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2BF47B-FDDF-4B67-960F-18AFB86A7B8A}" type="datetimeFigureOut">
              <a:rPr lang="en-DK" smtClean="0"/>
              <a:t>16/07/2024</a:t>
            </a:fld>
            <a:endParaRPr lang="en-D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2A1D48C-33CB-4B26-1836-4D8E249230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CAC90D-E4D8-24BE-D448-892686D48B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960173-6FAD-4847-9EEB-E4875933BC96}" type="slidenum">
              <a:rPr lang="en-DK" smtClean="0"/>
              <a:t>‹#›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20634040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3F1D15-842D-4CD6-412D-63636E63A4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DK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5B209B7-25E0-A43E-E00C-C9038684D0E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E72513C-C1D0-05D4-0790-66184170AC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2BF47B-FDDF-4B67-960F-18AFB86A7B8A}" type="datetimeFigureOut">
              <a:rPr lang="en-DK" smtClean="0"/>
              <a:t>16/07/2024</a:t>
            </a:fld>
            <a:endParaRPr lang="en-D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D008216-EF66-9D7F-FE80-4324E74AA8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E99B122-A6E6-591E-2861-D88453FF15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960173-6FAD-4847-9EEB-E4875933BC96}" type="slidenum">
              <a:rPr lang="en-DK" smtClean="0"/>
              <a:t>‹#›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361049623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C5876A-0FFB-DC11-8AA1-D28FE63CDB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D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CD01DA-7161-DA29-4C64-9F17E83E1BC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DK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FB1D593-F9A0-C67B-3BAF-8022952322A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DK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502DBE0-D401-A875-A875-8CAC0D5599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2BF47B-FDDF-4B67-960F-18AFB86A7B8A}" type="datetimeFigureOut">
              <a:rPr lang="en-DK" smtClean="0"/>
              <a:t>16/07/2024</a:t>
            </a:fld>
            <a:endParaRPr lang="en-DK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16BEB2A-229D-3ACB-A349-7BC3F73A96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K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CE19A20-0CBE-2F3B-76B9-C10C8AF36E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960173-6FAD-4847-9EEB-E4875933BC96}" type="slidenum">
              <a:rPr lang="en-DK" smtClean="0"/>
              <a:t>‹#›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24722450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8B7C41-D59C-9E73-149F-CAD70F3907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DK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854132B-4B84-8CD6-4741-F87D85C298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D19385C-981E-9008-17C2-7F24A14F905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DK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B57FA75-4FAC-3E43-E3BA-50FE2615AD6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DEA81B2-A1E5-07B3-12DB-15EA0BAE676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DK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CC89B25-5030-5ECF-7099-E63DEEA37A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2BF47B-FDDF-4B67-960F-18AFB86A7B8A}" type="datetimeFigureOut">
              <a:rPr lang="en-DK" smtClean="0"/>
              <a:t>16/07/2024</a:t>
            </a:fld>
            <a:endParaRPr lang="en-DK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FDED06D-1197-1554-2B7D-8B5AFF8F58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K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53234F3-57D3-D6F9-C1DF-AEF6B1D72A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960173-6FAD-4847-9EEB-E4875933BC96}" type="slidenum">
              <a:rPr lang="en-DK" smtClean="0"/>
              <a:t>‹#›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51852426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970B31-96F3-EE58-ADC2-1A224F3E24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DK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7DF3249-AF5F-632D-5B6B-B7C6B4BDA4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2BF47B-FDDF-4B67-960F-18AFB86A7B8A}" type="datetimeFigureOut">
              <a:rPr lang="en-DK" smtClean="0"/>
              <a:t>16/07/2024</a:t>
            </a:fld>
            <a:endParaRPr lang="en-DK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273D4B9-E402-B5E6-36BE-F5516D5A21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K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C25CEEF-77A9-1A4F-276B-821A612135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960173-6FAD-4847-9EEB-E4875933BC96}" type="slidenum">
              <a:rPr lang="en-DK" smtClean="0"/>
              <a:t>‹#›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120945920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E578D88-22A4-C600-16E4-19329631DA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2BF47B-FDDF-4B67-960F-18AFB86A7B8A}" type="datetimeFigureOut">
              <a:rPr lang="en-DK" smtClean="0"/>
              <a:t>16/07/2024</a:t>
            </a:fld>
            <a:endParaRPr lang="en-DK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B331B2A-1FD1-7F3A-804C-3C212370C6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K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488AC4D-164B-2068-C9BA-21804B89BF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960173-6FAD-4847-9EEB-E4875933BC96}" type="slidenum">
              <a:rPr lang="en-DK" smtClean="0"/>
              <a:t>‹#›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139951028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1C658E-799B-3D43-0936-99BA0F8F85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D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E5890A-E71C-AA4A-8996-52C2F1C405F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DK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A7AE6B1-6EF2-645F-56FD-A4CC507582D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35A0484-608B-30A2-B9E1-E8DC355217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2BF47B-FDDF-4B67-960F-18AFB86A7B8A}" type="datetimeFigureOut">
              <a:rPr lang="en-DK" smtClean="0"/>
              <a:t>16/07/2024</a:t>
            </a:fld>
            <a:endParaRPr lang="en-DK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1E68D60-55EA-3A4C-98D5-F9AC669C1D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K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E1F65D4-B67F-901A-63EB-57A74D9A19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960173-6FAD-4847-9EEB-E4875933BC96}" type="slidenum">
              <a:rPr lang="en-DK" smtClean="0"/>
              <a:t>‹#›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404055564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871E73-9392-8773-C817-EDC9089B43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DK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E7CAC44-D7F4-9D9A-4786-DDA0A86224B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DK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31EFAA0-E5C5-FB48-D713-02A749AF301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C6D6178-EB4B-5176-0655-D79D9AB383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2BF47B-FDDF-4B67-960F-18AFB86A7B8A}" type="datetimeFigureOut">
              <a:rPr lang="en-DK" smtClean="0"/>
              <a:t>16/07/2024</a:t>
            </a:fld>
            <a:endParaRPr lang="en-DK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43D7FD4-2F9F-CAF1-DC22-6D6AA412F4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K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4442D9B-AFD0-EF4B-8C68-04DA0CF44D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960173-6FAD-4847-9EEB-E4875933BC96}" type="slidenum">
              <a:rPr lang="en-DK" smtClean="0"/>
              <a:t>‹#›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381974538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659B52-FECF-41C2-F137-2E0A81F87A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DK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F43E7FD-405E-65C4-E042-7911A502997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D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1A2D10F-82FF-6AF3-E62E-BEA76A821C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2BF47B-FDDF-4B67-960F-18AFB86A7B8A}" type="datetimeFigureOut">
              <a:rPr lang="en-DK" smtClean="0"/>
              <a:t>16/07/2024</a:t>
            </a:fld>
            <a:endParaRPr lang="en-D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3B4D0D9-B8E1-ED46-585E-09EE63CEB4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47638A2-08F9-D879-ABF0-E31F183F82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960173-6FAD-4847-9EEB-E4875933BC96}" type="slidenum">
              <a:rPr lang="en-DK" smtClean="0"/>
              <a:t>‹#›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314605228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F33C1F1-42C6-0954-9294-CEBAE8BC226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DK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EC2CE23-CEAC-CA0D-DBD8-5028DEB0C46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D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A7F158C-555F-F40A-D7F7-2090CAC170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2BF47B-FDDF-4B67-960F-18AFB86A7B8A}" type="datetimeFigureOut">
              <a:rPr lang="en-DK" smtClean="0"/>
              <a:t>16/07/2024</a:t>
            </a:fld>
            <a:endParaRPr lang="en-D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5022CD6-5D2D-F64B-4B45-FBFA24B33A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9E12AFB-101F-8F2D-C26D-E3B762D6DD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960173-6FAD-4847-9EEB-E4875933BC96}" type="slidenum">
              <a:rPr lang="en-DK" smtClean="0"/>
              <a:t>‹#›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42239138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74348D6-D035-D117-0188-E269544C51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DK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7E776B2-7486-0EBB-9963-42DECB5636A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D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5309E41-7D84-ADA5-A65D-B001735D938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32BF47B-FDDF-4B67-960F-18AFB86A7B8A}" type="datetimeFigureOut">
              <a:rPr lang="en-DK" smtClean="0"/>
              <a:t>16/07/2024</a:t>
            </a:fld>
            <a:endParaRPr lang="en-D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F917B72-B037-9B37-4113-3DD1DFAC087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D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6B7B4BB-2466-7BE5-15EE-02CCB245852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3960173-6FAD-4847-9EEB-E4875933BC96}" type="slidenum">
              <a:rPr lang="en-DK" smtClean="0"/>
              <a:t>‹#›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11270407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DK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.xml"/><Relationship Id="rId5" Type="http://schemas.openxmlformats.org/officeDocument/2006/relationships/chart" Target="../charts/chart1.xml"/><Relationship Id="rId4" Type="http://schemas.openxmlformats.org/officeDocument/2006/relationships/image" Target="../media/image1.e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 hidden="1">
            <a:extLst>
              <a:ext uri="{FF2B5EF4-FFF2-40B4-BE49-F238E27FC236}">
                <a16:creationId xmlns:a16="http://schemas.microsoft.com/office/drawing/2014/main" id="{7CEF43CB-F72B-4959-BAC7-B44AE8A37BA0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38" imgH="338" progId="TCLayout.ActiveDocument.1">
                  <p:embed/>
                </p:oleObj>
              </mc:Choice>
              <mc:Fallback>
                <p:oleObj name="think-cell Slide" r:id="rId3" imgW="338" imgH="338" progId="TCLayout.ActiveDocument.1">
                  <p:embed/>
                  <p:pic>
                    <p:nvPicPr>
                      <p:cNvPr id="4" name="Object 3" hidden="1">
                        <a:extLst>
                          <a:ext uri="{FF2B5EF4-FFF2-40B4-BE49-F238E27FC236}">
                            <a16:creationId xmlns:a16="http://schemas.microsoft.com/office/drawing/2014/main" id="{7CEF43CB-F72B-4959-BAC7-B44AE8A37BA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Rectangle 7">
            <a:extLst>
              <a:ext uri="{FF2B5EF4-FFF2-40B4-BE49-F238E27FC236}">
                <a16:creationId xmlns:a16="http://schemas.microsoft.com/office/drawing/2014/main" id="{BEECE9C6-BEEB-406C-9507-D79C2DBE2E21}"/>
              </a:ext>
            </a:extLst>
          </p:cNvPr>
          <p:cNvSpPr/>
          <p:nvPr/>
        </p:nvSpPr>
        <p:spPr bwMode="auto">
          <a:xfrm>
            <a:off x="1192862" y="1425382"/>
            <a:ext cx="2390400" cy="647017"/>
          </a:xfrm>
          <a:prstGeom prst="rect">
            <a:avLst/>
          </a:prstGeom>
          <a:noFill/>
          <a:ln w="12700">
            <a:noFill/>
            <a:round/>
            <a:headEnd/>
            <a:tailEnd/>
          </a:ln>
        </p:spPr>
        <p:txBody>
          <a:bodyPr wrap="square" lIns="91440" tIns="0" rIns="91440" bIns="0" rtlCol="0" anchor="ctr">
            <a:noAutofit/>
          </a:bodyPr>
          <a:lstStyle/>
          <a:p>
            <a:r>
              <a:rPr lang="en-PH" sz="2000" b="1" dirty="0">
                <a:latin typeface="+mn-lt"/>
              </a:rPr>
              <a:t>Situation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1EB41B6-12C4-45A4-B1ED-6072175B1FD9}"/>
              </a:ext>
            </a:extLst>
          </p:cNvPr>
          <p:cNvSpPr/>
          <p:nvPr/>
        </p:nvSpPr>
        <p:spPr bwMode="auto">
          <a:xfrm>
            <a:off x="4145521" y="1148797"/>
            <a:ext cx="6548400" cy="647017"/>
          </a:xfrm>
          <a:prstGeom prst="rect">
            <a:avLst/>
          </a:prstGeom>
          <a:noFill/>
          <a:ln w="12700">
            <a:noFill/>
            <a:round/>
            <a:headEnd/>
            <a:tailEnd/>
          </a:ln>
        </p:spPr>
        <p:txBody>
          <a:bodyPr wrap="square" lIns="91440" tIns="0" rIns="91440" bIns="0" rtlCol="0" anchor="ctr">
            <a:noAutofit/>
          </a:bodyPr>
          <a:lstStyle/>
          <a:p>
            <a:r>
              <a:rPr lang="en-PH" sz="2000" b="1" dirty="0">
                <a:latin typeface="+mn-lt"/>
              </a:rPr>
              <a:t>A curious mindset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B6A13B0-5B27-4181-A222-3A768BBFA436}"/>
              </a:ext>
            </a:extLst>
          </p:cNvPr>
          <p:cNvSpPr/>
          <p:nvPr/>
        </p:nvSpPr>
        <p:spPr bwMode="auto">
          <a:xfrm>
            <a:off x="3817512" y="1881967"/>
            <a:ext cx="3515141" cy="720000"/>
          </a:xfrm>
          <a:prstGeom prst="rect">
            <a:avLst/>
          </a:prstGeom>
          <a:noFill/>
          <a:ln w="12700">
            <a:noFill/>
            <a:round/>
            <a:headEnd/>
            <a:tailEnd/>
          </a:ln>
        </p:spPr>
        <p:txBody>
          <a:bodyPr wrap="square" lIns="91440" tIns="91440" rIns="360000" bIns="91440" rtlCol="0" anchor="ctr">
            <a:noAutofit/>
          </a:bodyPr>
          <a:lstStyle/>
          <a:p>
            <a:pPr marL="285750" lvl="0" indent="-285750" algn="l"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en-PH" sz="1100" dirty="0">
                <a:latin typeface="Raleway" panose="020B0503030101060003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This might require something I don’t know –I might learn something that I can use going forward.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5291057-3A38-464A-BD88-A52BCF01169F}"/>
              </a:ext>
            </a:extLst>
          </p:cNvPr>
          <p:cNvSpPr/>
          <p:nvPr/>
        </p:nvSpPr>
        <p:spPr bwMode="auto">
          <a:xfrm>
            <a:off x="3965159" y="2681217"/>
            <a:ext cx="3515141" cy="720000"/>
          </a:xfrm>
          <a:prstGeom prst="rect">
            <a:avLst/>
          </a:prstGeom>
          <a:noFill/>
          <a:ln w="12700">
            <a:noFill/>
            <a:round/>
            <a:headEnd/>
            <a:tailEnd/>
          </a:ln>
        </p:spPr>
        <p:txBody>
          <a:bodyPr wrap="square" lIns="91440" tIns="91440" rIns="360000" bIns="91440" rtlCol="0" anchor="ctr">
            <a:noAutofit/>
          </a:bodyPr>
          <a:lstStyle/>
          <a:p>
            <a:pPr marL="285750" indent="-285750" algn="l"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en-PH" sz="1100" dirty="0">
                <a:latin typeface="Raleway" panose="020B0503030101060003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Strange – I really like them – I want to understand why – and also how I can learn to avoid this in the future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8493AAA-2801-4374-B604-009B854C4B98}"/>
              </a:ext>
            </a:extLst>
          </p:cNvPr>
          <p:cNvSpPr/>
          <p:nvPr/>
        </p:nvSpPr>
        <p:spPr bwMode="auto">
          <a:xfrm>
            <a:off x="3694156" y="4286620"/>
            <a:ext cx="3515141" cy="720000"/>
          </a:xfrm>
          <a:prstGeom prst="rect">
            <a:avLst/>
          </a:prstGeom>
          <a:noFill/>
          <a:ln w="12700">
            <a:noFill/>
            <a:round/>
            <a:headEnd/>
            <a:tailEnd/>
          </a:ln>
        </p:spPr>
        <p:txBody>
          <a:bodyPr rot="0" spcFirstLastPara="0" vertOverflow="overflow" horzOverflow="overflow" vert="horz" wrap="square" lIns="91440" tIns="91440" rIns="360000" bIns="9144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285750" indent="-285750" algn="l"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en-PH" sz="1100" dirty="0">
                <a:latin typeface="Raleway" panose="020B0503030101060003" pitchFamily="34" charset="0"/>
              </a:rPr>
              <a:t>I know clients are busy – but maybe there is a way to increase the urgency of the call – let me study some videos and test a new approach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1EB9E27D-98C2-4FBE-94AC-1F22DE89C4B9}"/>
              </a:ext>
            </a:extLst>
          </p:cNvPr>
          <p:cNvSpPr/>
          <p:nvPr/>
        </p:nvSpPr>
        <p:spPr bwMode="auto">
          <a:xfrm>
            <a:off x="1303756" y="1881967"/>
            <a:ext cx="2390400" cy="720000"/>
          </a:xfrm>
          <a:prstGeom prst="rect">
            <a:avLst/>
          </a:prstGeom>
          <a:noFill/>
          <a:ln w="12700">
            <a:noFill/>
            <a:round/>
            <a:headEnd/>
            <a:tailEnd/>
          </a:ln>
        </p:spPr>
        <p:txBody>
          <a:bodyPr wrap="square" lIns="90000" tIns="91440" rIns="90000" bIns="91440" rtlCol="0" anchor="ctr">
            <a:noAutofit/>
          </a:bodyPr>
          <a:lstStyle/>
          <a:p>
            <a:pPr marL="285750" lvl="0" indent="-285750" algn="l"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en-PH" sz="1600" dirty="0">
                <a:latin typeface="Raleway" panose="020B0503030101060003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My code is not working 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757F4F8-5D1A-40A0-83DB-743EC5175D1F}"/>
              </a:ext>
            </a:extLst>
          </p:cNvPr>
          <p:cNvSpPr/>
          <p:nvPr/>
        </p:nvSpPr>
        <p:spPr bwMode="auto">
          <a:xfrm>
            <a:off x="1414650" y="2564733"/>
            <a:ext cx="2390400" cy="720000"/>
          </a:xfrm>
          <a:prstGeom prst="rect">
            <a:avLst/>
          </a:prstGeom>
          <a:noFill/>
          <a:ln w="12700">
            <a:noFill/>
            <a:round/>
            <a:headEnd/>
            <a:tailEnd/>
          </a:ln>
        </p:spPr>
        <p:txBody>
          <a:bodyPr wrap="square" lIns="90000" tIns="91440" rIns="90000" bIns="91440" rtlCol="0" anchor="ctr">
            <a:noAutofit/>
          </a:bodyPr>
          <a:lstStyle/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PH" sz="1600" dirty="0">
                <a:latin typeface="Raleway" panose="020B0503030101060003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The client do not like the slides we have made for them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C9A63DAF-827E-4320-9030-9CBDA5E5EC6A}"/>
              </a:ext>
            </a:extLst>
          </p:cNvPr>
          <p:cNvSpPr/>
          <p:nvPr/>
        </p:nvSpPr>
        <p:spPr bwMode="auto">
          <a:xfrm>
            <a:off x="1303756" y="4279717"/>
            <a:ext cx="2390400" cy="720000"/>
          </a:xfrm>
          <a:prstGeom prst="rect">
            <a:avLst/>
          </a:prstGeom>
          <a:noFill/>
          <a:ln w="12700">
            <a:noFill/>
            <a:round/>
            <a:headEnd/>
            <a:tailEnd/>
          </a:ln>
        </p:spPr>
        <p:txBody>
          <a:bodyPr rot="0" spcFirstLastPara="0" vertOverflow="overflow" horzOverflow="overflow" vert="horz" wrap="square" lIns="90000" tIns="91440" rIns="90000" bIns="9144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285750" indent="-285750" algn="l"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en-PH" sz="1600" dirty="0">
                <a:latin typeface="Raleway" panose="020B0503030101060003" pitchFamily="34" charset="0"/>
              </a:rPr>
              <a:t>The clients are not getting back to me as they promised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319D45B-D333-416B-B592-0E721255528F}"/>
              </a:ext>
            </a:extLst>
          </p:cNvPr>
          <p:cNvSpPr/>
          <p:nvPr/>
        </p:nvSpPr>
        <p:spPr bwMode="auto">
          <a:xfrm>
            <a:off x="4077307" y="3456784"/>
            <a:ext cx="3515141" cy="720000"/>
          </a:xfrm>
          <a:prstGeom prst="rect">
            <a:avLst/>
          </a:prstGeom>
          <a:noFill/>
          <a:ln w="12700">
            <a:noFill/>
            <a:round/>
            <a:headEnd/>
            <a:tailEnd/>
          </a:ln>
        </p:spPr>
        <p:txBody>
          <a:bodyPr wrap="square" lIns="91440" tIns="91440" rIns="360000" bIns="91440" rtlCol="0" anchor="ctr">
            <a:noAutofit/>
          </a:bodyPr>
          <a:lstStyle/>
          <a:p>
            <a:pPr marL="285750" indent="-285750" algn="l"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en-PH" sz="1100" dirty="0">
                <a:latin typeface="Raleway" panose="020B0503030101060003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Okay – so what does other companies in B2B services do? Let me study some of the market leaders and see what they are doing different from us.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329C502A-A60D-4999-A36C-9F283E3EF30D}"/>
              </a:ext>
            </a:extLst>
          </p:cNvPr>
          <p:cNvSpPr/>
          <p:nvPr/>
        </p:nvSpPr>
        <p:spPr bwMode="auto">
          <a:xfrm>
            <a:off x="3817512" y="5257633"/>
            <a:ext cx="3515141" cy="720000"/>
          </a:xfrm>
          <a:prstGeom prst="rect">
            <a:avLst/>
          </a:prstGeom>
          <a:noFill/>
          <a:ln w="12700">
            <a:noFill/>
            <a:round/>
            <a:headEnd/>
            <a:tailEnd/>
          </a:ln>
        </p:spPr>
        <p:txBody>
          <a:bodyPr rot="0" spcFirstLastPara="0" vertOverflow="overflow" horzOverflow="overflow" vert="horz" wrap="square" lIns="91440" tIns="91440" rIns="360000" bIns="9144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285750" indent="-285750" algn="l"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en-PH" sz="1100" dirty="0">
                <a:latin typeface="Raleway" panose="020B0503030101060003" pitchFamily="34" charset="0"/>
              </a:rPr>
              <a:t>I need to understand this recruiting market better to understand what are driving applicants in this segment 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F3AFE8D5-F3D7-4D4B-B586-98FF977C3D58}"/>
              </a:ext>
            </a:extLst>
          </p:cNvPr>
          <p:cNvSpPr/>
          <p:nvPr/>
        </p:nvSpPr>
        <p:spPr bwMode="auto">
          <a:xfrm>
            <a:off x="1303756" y="3480467"/>
            <a:ext cx="2390400" cy="720000"/>
          </a:xfrm>
          <a:prstGeom prst="rect">
            <a:avLst/>
          </a:prstGeom>
          <a:noFill/>
          <a:ln w="12700">
            <a:noFill/>
            <a:round/>
            <a:headEnd/>
            <a:tailEnd/>
          </a:ln>
        </p:spPr>
        <p:txBody>
          <a:bodyPr wrap="square" lIns="90000" tIns="91440" rIns="90000" bIns="91440" rtlCol="0" anchor="ctr">
            <a:noAutofit/>
          </a:bodyPr>
          <a:lstStyle/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PH" sz="1600" dirty="0">
                <a:latin typeface="Raleway" panose="020B0503030101060003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Our marketing campaign is not converting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DD6F4E6E-85EC-4CC0-9066-1EC1151F6C8B}"/>
              </a:ext>
            </a:extLst>
          </p:cNvPr>
          <p:cNvSpPr/>
          <p:nvPr/>
        </p:nvSpPr>
        <p:spPr bwMode="auto">
          <a:xfrm>
            <a:off x="1087856" y="5078966"/>
            <a:ext cx="2390400" cy="720000"/>
          </a:xfrm>
          <a:prstGeom prst="rect">
            <a:avLst/>
          </a:prstGeom>
          <a:noFill/>
          <a:ln w="12700">
            <a:noFill/>
            <a:round/>
            <a:headEnd/>
            <a:tailEnd/>
          </a:ln>
        </p:spPr>
        <p:txBody>
          <a:bodyPr rot="0" spcFirstLastPara="0" vertOverflow="overflow" horzOverflow="overflow" vert="horz" wrap="square" lIns="90000" tIns="91440" rIns="90000" bIns="9144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285750" indent="-285750" algn="l"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en-PH" sz="1600" dirty="0">
                <a:latin typeface="Raleway" panose="020B0503030101060003" pitchFamily="34" charset="0"/>
              </a:rPr>
              <a:t>We are not getting enough applications for new role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B5CC0FF3-2D0E-4AC0-9893-E0A5A95873C3}"/>
              </a:ext>
            </a:extLst>
          </p:cNvPr>
          <p:cNvSpPr/>
          <p:nvPr/>
        </p:nvSpPr>
        <p:spPr bwMode="auto">
          <a:xfrm>
            <a:off x="7456009" y="1457341"/>
            <a:ext cx="6548400" cy="647017"/>
          </a:xfrm>
          <a:prstGeom prst="rect">
            <a:avLst/>
          </a:prstGeom>
          <a:noFill/>
          <a:ln w="12700">
            <a:noFill/>
            <a:round/>
            <a:headEnd/>
            <a:tailEnd/>
          </a:ln>
        </p:spPr>
        <p:txBody>
          <a:bodyPr wrap="square" lIns="91440" tIns="0" rIns="91440" bIns="0" rtlCol="0" anchor="ctr">
            <a:noAutofit/>
          </a:bodyPr>
          <a:lstStyle/>
          <a:p>
            <a:r>
              <a:rPr lang="en-PH" sz="2000" b="1" dirty="0">
                <a:latin typeface="+mn-lt"/>
              </a:rPr>
              <a:t>Financial impact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28F5C9CE-630A-46AF-A2E8-99E24C2E5CF8}"/>
              </a:ext>
            </a:extLst>
          </p:cNvPr>
          <p:cNvSpPr/>
          <p:nvPr/>
        </p:nvSpPr>
        <p:spPr bwMode="auto">
          <a:xfrm>
            <a:off x="329666" y="419108"/>
            <a:ext cx="9313444" cy="647017"/>
          </a:xfrm>
          <a:prstGeom prst="rect">
            <a:avLst/>
          </a:prstGeom>
          <a:noFill/>
          <a:ln w="12700">
            <a:noFill/>
            <a:round/>
            <a:headEnd/>
            <a:tailEnd/>
          </a:ln>
        </p:spPr>
        <p:txBody>
          <a:bodyPr wrap="square" lIns="91440" tIns="0" rIns="91440" bIns="0" rtlCol="0" anchor="ctr">
            <a:noAutofit/>
          </a:bodyPr>
          <a:lstStyle/>
          <a:p>
            <a:r>
              <a:rPr lang="en-US" sz="3200" b="1" dirty="0"/>
              <a:t>Make it hard to spot the general by working like a soldier</a:t>
            </a:r>
            <a:endParaRPr lang="en-PH" sz="3200" b="1" dirty="0">
              <a:latin typeface="+mn-lt"/>
            </a:endParaRPr>
          </a:p>
        </p:txBody>
      </p:sp>
      <p:graphicFrame>
        <p:nvGraphicFramePr>
          <p:cNvPr id="5" name="Chart 4">
            <a:extLst>
              <a:ext uri="{FF2B5EF4-FFF2-40B4-BE49-F238E27FC236}">
                <a16:creationId xmlns:a16="http://schemas.microsoft.com/office/drawing/2014/main" id="{039522BC-B5E6-47F4-9652-10CE68723EB1}"/>
              </a:ext>
            </a:extLst>
          </p:cNvPr>
          <p:cNvGraphicFramePr/>
          <p:nvPr/>
        </p:nvGraphicFramePr>
        <p:xfrm>
          <a:off x="7975600" y="2146300"/>
          <a:ext cx="2212380" cy="323003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20087B9D-C7D1-4115-B3ED-417C501D5843}"/>
              </a:ext>
            </a:extLst>
          </p:cNvPr>
          <p:cNvCxnSpPr/>
          <p:nvPr/>
        </p:nvCxnSpPr>
        <p:spPr>
          <a:xfrm flipH="1">
            <a:off x="9486900" y="2247900"/>
            <a:ext cx="312420" cy="101346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634F44F8-CA8F-4A53-A3ED-9017DFD38F59}"/>
              </a:ext>
            </a:extLst>
          </p:cNvPr>
          <p:cNvSpPr txBox="1"/>
          <p:nvPr/>
        </p:nvSpPr>
        <p:spPr>
          <a:xfrm>
            <a:off x="9323070" y="1905000"/>
            <a:ext cx="155067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/>
              <a:t>Highlight</a:t>
            </a:r>
          </a:p>
        </p:txBody>
      </p:sp>
      <p:sp>
        <p:nvSpPr>
          <p:cNvPr id="2" name="TextBox 18">
            <a:extLst>
              <a:ext uri="{FF2B5EF4-FFF2-40B4-BE49-F238E27FC236}">
                <a16:creationId xmlns:a16="http://schemas.microsoft.com/office/drawing/2014/main" id="{805B2322-7E06-1272-B89C-1111A929DA24}"/>
              </a:ext>
            </a:extLst>
          </p:cNvPr>
          <p:cNvSpPr txBox="1"/>
          <p:nvPr/>
        </p:nvSpPr>
        <p:spPr>
          <a:xfrm>
            <a:off x="9054950" y="5617633"/>
            <a:ext cx="1097438" cy="1169551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1400" dirty="0"/>
              <a:t>Client instructions: </a:t>
            </a:r>
            <a:br>
              <a:rPr lang="en-IN" sz="1400" dirty="0"/>
            </a:br>
            <a:r>
              <a:rPr lang="en-IN" sz="1400" dirty="0"/>
              <a:t>Change graph to line chart</a:t>
            </a:r>
          </a:p>
        </p:txBody>
      </p:sp>
      <p:sp>
        <p:nvSpPr>
          <p:cNvPr id="3" name="Arrow: Right 2">
            <a:extLst>
              <a:ext uri="{FF2B5EF4-FFF2-40B4-BE49-F238E27FC236}">
                <a16:creationId xmlns:a16="http://schemas.microsoft.com/office/drawing/2014/main" id="{8EF3FA94-5E9A-6583-5421-0BD460B86B13}"/>
              </a:ext>
            </a:extLst>
          </p:cNvPr>
          <p:cNvSpPr/>
          <p:nvPr/>
        </p:nvSpPr>
        <p:spPr>
          <a:xfrm rot="16200000" flipV="1">
            <a:off x="9460242" y="5423695"/>
            <a:ext cx="255425" cy="146577"/>
          </a:xfrm>
          <a:prstGeom prst="rightArrow">
            <a:avLst/>
          </a:prstGeom>
          <a:solidFill>
            <a:srgbClr val="FFFF00"/>
          </a:solidFill>
          <a:ln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DK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8434963-AB2D-00E1-C06F-8D2E6B5B2C26}"/>
              </a:ext>
            </a:extLst>
          </p:cNvPr>
          <p:cNvSpPr/>
          <p:nvPr/>
        </p:nvSpPr>
        <p:spPr>
          <a:xfrm>
            <a:off x="7956574" y="-13691"/>
            <a:ext cx="4248150" cy="1583152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1" dirty="0">
                <a:solidFill>
                  <a:srgbClr val="000000"/>
                </a:solidFill>
                <a:ea typeface="+mn-lt"/>
                <a:cs typeface="+mn-lt"/>
              </a:rPr>
              <a:t>Instructions: </a:t>
            </a:r>
            <a:endParaRPr lang="en-US" dirty="0">
              <a:solidFill>
                <a:srgbClr val="000000"/>
              </a:solidFill>
            </a:endParaRPr>
          </a:p>
          <a:p>
            <a:pPr marL="285750" indent="-285750">
              <a:buFont typeface="Arial"/>
              <a:buChar char="•"/>
            </a:pPr>
            <a:r>
              <a:rPr lang="en-US" sz="1400" dirty="0">
                <a:solidFill>
                  <a:srgbClr val="000000"/>
                </a:solidFill>
                <a:ea typeface="+mn-lt"/>
                <a:cs typeface="+mn-lt"/>
              </a:rPr>
              <a:t>Brush up this slide</a:t>
            </a:r>
            <a:endParaRPr lang="en-US" sz="1400" dirty="0">
              <a:solidFill>
                <a:srgbClr val="000000"/>
              </a:solidFill>
              <a:cs typeface="Calibri" panose="020F0502020204030204"/>
            </a:endParaRPr>
          </a:p>
          <a:p>
            <a:pPr marL="285750" indent="-285750">
              <a:buFont typeface="Arial"/>
              <a:buChar char="•"/>
            </a:pPr>
            <a:r>
              <a:rPr lang="en-US" sz="1400" dirty="0">
                <a:solidFill>
                  <a:srgbClr val="000000"/>
                </a:solidFill>
                <a:ea typeface="+mn-lt"/>
                <a:cs typeface="+mn-lt"/>
              </a:rPr>
              <a:t>Follow client's style and guidelines </a:t>
            </a:r>
            <a:endParaRPr lang="en-US" sz="1400" dirty="0">
              <a:solidFill>
                <a:srgbClr val="000000"/>
              </a:solidFill>
              <a:cs typeface="Calibri" panose="020F0502020204030204"/>
            </a:endParaRPr>
          </a:p>
          <a:p>
            <a:pPr marL="285750" indent="-285750">
              <a:buFont typeface="Arial"/>
              <a:buChar char="•"/>
            </a:pPr>
            <a:r>
              <a:rPr lang="en-US" sz="1400" dirty="0">
                <a:solidFill>
                  <a:srgbClr val="000000"/>
                </a:solidFill>
                <a:ea typeface="+mn-lt"/>
                <a:cs typeface="+mn-lt"/>
              </a:rPr>
              <a:t>If you cannot meet any guideline rules or in case of any other issues leave yellow sticker (like this one) with information for the admin</a:t>
            </a:r>
            <a:endParaRPr lang="en-US" sz="1400" dirty="0">
              <a:solidFill>
                <a:srgbClr val="000000"/>
              </a:solidFill>
              <a:cs typeface="Calibri" panose="020F0502020204030204"/>
            </a:endParaRPr>
          </a:p>
          <a:p>
            <a:endParaRPr lang="en-US" sz="1400" dirty="0">
              <a:solidFill>
                <a:srgbClr val="000000"/>
              </a:solidFill>
              <a:ea typeface="Calibri"/>
              <a:cs typeface="Calibri"/>
            </a:endParaRPr>
          </a:p>
        </p:txBody>
      </p:sp>
      <p:sp>
        <p:nvSpPr>
          <p:cNvPr id="24" name="TextBox 14">
            <a:extLst>
              <a:ext uri="{FF2B5EF4-FFF2-40B4-BE49-F238E27FC236}">
                <a16:creationId xmlns:a16="http://schemas.microsoft.com/office/drawing/2014/main" id="{64A8EFA6-22E9-4DAE-AA70-3A10669BC84E}"/>
              </a:ext>
            </a:extLst>
          </p:cNvPr>
          <p:cNvSpPr txBox="1"/>
          <p:nvPr/>
        </p:nvSpPr>
        <p:spPr>
          <a:xfrm>
            <a:off x="62040" y="3124286"/>
            <a:ext cx="1226920" cy="1384995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1400" dirty="0"/>
              <a:t>Client instructions: </a:t>
            </a:r>
            <a:br>
              <a:rPr lang="en-IN" sz="1400" dirty="0"/>
            </a:br>
            <a:r>
              <a:rPr lang="en-IN" sz="1400" dirty="0"/>
              <a:t>Highlight this situation and corresponding mindset</a:t>
            </a:r>
          </a:p>
        </p:txBody>
      </p:sp>
      <p:sp>
        <p:nvSpPr>
          <p:cNvPr id="25" name="Arrow: Right 24">
            <a:extLst>
              <a:ext uri="{FF2B5EF4-FFF2-40B4-BE49-F238E27FC236}">
                <a16:creationId xmlns:a16="http://schemas.microsoft.com/office/drawing/2014/main" id="{B30F32CE-FC90-7F06-9A43-DA143F935E82}"/>
              </a:ext>
            </a:extLst>
          </p:cNvPr>
          <p:cNvSpPr/>
          <p:nvPr/>
        </p:nvSpPr>
        <p:spPr>
          <a:xfrm>
            <a:off x="1286035" y="3761316"/>
            <a:ext cx="255425" cy="146577"/>
          </a:xfrm>
          <a:prstGeom prst="rightArrow">
            <a:avLst/>
          </a:prstGeom>
          <a:solidFill>
            <a:srgbClr val="FFFF00"/>
          </a:solidFill>
          <a:ln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670244110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241</Words>
  <Application>Microsoft Office PowerPoint</Application>
  <PresentationFormat>Widescreen</PresentationFormat>
  <Paragraphs>22</Paragraphs>
  <Slides>1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8" baseType="lpstr">
      <vt:lpstr>Aptos</vt:lpstr>
      <vt:lpstr>Aptos Display</vt:lpstr>
      <vt:lpstr>Arial</vt:lpstr>
      <vt:lpstr>Calibri</vt:lpstr>
      <vt:lpstr>Raleway</vt:lpstr>
      <vt:lpstr>Office Theme</vt:lpstr>
      <vt:lpstr>think-cell Slide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Anna Kabel</dc:creator>
  <cp:lastModifiedBy>Anna Kabel</cp:lastModifiedBy>
  <cp:revision>1</cp:revision>
  <dcterms:created xsi:type="dcterms:W3CDTF">2024-07-16T10:04:00Z</dcterms:created>
  <dcterms:modified xsi:type="dcterms:W3CDTF">2024-07-16T10:07:41Z</dcterms:modified>
</cp:coreProperties>
</file>